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Mobile Application Development with Flutter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Lecture 1: Flutter Introduction and Setup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Mobile Application Development Course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Understanding Flutter from fundamentals to first project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By the end of this lecture students will understand: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Mobile application ecosystem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Native vs cross-platform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Flutter architecture and widgets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Widget Tree, Element Tree and lifecycle concepts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Flutter SDK installation and development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is Mobile Application Development?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Mobile application development is the process of designing, building and maintaining software applications for smartphones and tablets.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Modern mobile apps combine user interface, business logic, storage, networking and device capabilities.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Examples: banking apps, ecommerce apps, healthcare apps and social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UI</a:t>
            </a:r>
          </a:p>
          <a:p>
            <a:r>
              <a:t>↓</a:t>
            </a:r>
          </a:p>
          <a:p>
            <a:r>
              <a:t>Logic</a:t>
            </a:r>
          </a:p>
          <a:p>
            <a:r>
              <a:t>↓</a:t>
            </a:r>
          </a:p>
          <a:p>
            <a:r>
              <a:t>Data</a:t>
            </a:r>
          </a:p>
          <a:p>
            <a:r>
              <a:t>↓</a:t>
            </a:r>
          </a:p>
          <a:p>
            <a:r>
              <a:t>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Evolution of Mobile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Mobile development has evolved through multiple generations.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Feature phones introduced Java based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Smartphones introduced native iOS and Android ecosystems.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Modern development focuses on cross-platform and AI-powered experiences.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2000</a:t>
            </a:r>
          </a:p>
          <a:p>
            <a:r>
              <a:t>Feature Phones</a:t>
            </a:r>
          </a:p>
          <a:p>
            <a:r>
              <a:t>↓</a:t>
            </a:r>
          </a:p>
          <a:p>
            <a:r>
              <a:t>2010</a:t>
            </a:r>
          </a:p>
          <a:p>
            <a:r>
              <a:t>Smartphones</a:t>
            </a:r>
          </a:p>
          <a:p>
            <a:r>
              <a:t>↓</a:t>
            </a:r>
          </a:p>
          <a:p>
            <a:r>
              <a:t>2025</a:t>
            </a:r>
          </a:p>
          <a:p>
            <a:r>
              <a:t>AI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Mobile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 two dominant mobile platforms are: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iOS: Swift, SwiftUI/UIKit, Apple ecosystem.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Android: Kotlin, Android SDK, Google ecosystem.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Developers must understand platform capabilities and limitations.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iOS</a:t>
            </a:r>
          </a:p>
          <a:p/>
          <a:p>
            <a:r>
              <a:t>Android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Native Application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Native development means creating applications specifically for one operating system.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iOS applications are commonly built using Swift.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Android applications are commonly built using Kotlin.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Native apps provide maximum platform access but require separate codebases.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Swift → iOS</a:t>
            </a:r>
          </a:p>
          <a:p/>
          <a:p>
            <a:r>
              <a:t>Kotlin → Android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Challenges of Native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Maintaining separate projects increases development effort.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Teams need platform-specific expertise.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Feature updates require duplicate implementation.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Cross-platform frameworks solve many of these problems.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2 Teams</a:t>
            </a:r>
          </a:p>
          <a:p>
            <a:r>
              <a:t>2 Codebases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 to Flutter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is Google's UI framework for creating multi-platform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It uses Dart as its programming language.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allows developers to build mobile, web and desktop applications from a shared codebase.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Flutter</a:t>
            </a:r>
          </a:p>
          <a:p>
            <a:r>
              <a:t>   |</a:t>
            </a:r>
          </a:p>
          <a:p>
            <a:r>
              <a:t>iOS Android Web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Flutter?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Single codebase reduces development time.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Rich collection of widgets enables custom interfaces.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Hot Reload improves developer productivity.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Strong ecosystem and community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Code Once</a:t>
            </a:r>
          </a:p>
          <a:p>
            <a:r>
              <a:t>Run Everywhere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Flutter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is organized into multiple layers.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 framework provides widgets and APIs.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 engine handles rendering and runtime.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 platform layer communicates with Android/iOS.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Framework</a:t>
            </a:r>
          </a:p>
          <a:p>
            <a:r>
              <a:t>↓</a:t>
            </a:r>
          </a:p>
          <a:p>
            <a:r>
              <a:t>Engine</a:t>
            </a:r>
          </a:p>
          <a:p>
            <a:r>
              <a:t>↓</a:t>
            </a:r>
          </a:p>
          <a:p>
            <a:r>
              <a:t>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Dart Programming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Dart is the programming language behind Flutter.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It supports object-oriented programming.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It provides asynchronous programming features required for modern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class</a:t>
            </a:r>
          </a:p>
          <a:p>
            <a:r>
              <a:t>async</a:t>
            </a:r>
          </a:p>
          <a:p>
            <a:r>
              <a:t>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Everything is a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Widgets are the fundamental building blocks of Flutter UI.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Text, buttons, layouts and complete screens are widgets.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Applications are created by composing widgets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Screen</a:t>
            </a:r>
          </a:p>
          <a:p>
            <a:r>
              <a:t> ↓</a:t>
            </a:r>
          </a:p>
          <a:p>
            <a:r>
              <a:t>Column</a:t>
            </a:r>
          </a:p>
          <a:p>
            <a:r>
              <a:t> ↓</a:t>
            </a:r>
          </a:p>
          <a:p>
            <a:r>
              <a:t>Text/Button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Widget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represents UI as a hierarchical tree structure.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Parent widgets contain child widgets.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This composition approach makes UI development flexible and reusable.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MaterialApp</a:t>
            </a:r>
          </a:p>
          <a:p>
            <a:r>
              <a:t> |</a:t>
            </a:r>
          </a:p>
          <a:p>
            <a:r>
              <a:t>Scaffold</a:t>
            </a:r>
          </a:p>
          <a:p>
            <a:r>
              <a:t> |</a:t>
            </a:r>
          </a:p>
          <a:p>
            <a:r>
              <a:t>Column</a:t>
            </a:r>
          </a:p>
          <a:p>
            <a:r>
              <a:t>/   \</a:t>
            </a:r>
          </a:p>
          <a:p>
            <a:r>
              <a:t>Text Button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Element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Widgets describe UI configuration.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Elements connect widgets with the rendering system.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 framework uses elements to efficiently update the screen.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Widget</a:t>
            </a:r>
          </a:p>
          <a:p>
            <a:r>
              <a:t> ↓</a:t>
            </a:r>
          </a:p>
          <a:p>
            <a:r>
              <a:t>Element</a:t>
            </a:r>
          </a:p>
          <a:p>
            <a:r>
              <a:t> ↓</a:t>
            </a:r>
          </a:p>
          <a:p>
            <a:r>
              <a:t>Render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Stateless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Stateless widgets do not change after creation.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They are used for static content such as labels, icons and simple layouts.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The build method describes their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Build()</a:t>
            </a:r>
          </a:p>
          <a:p>
            <a:r>
              <a:t> ↓</a:t>
            </a:r>
          </a:p>
          <a:p>
            <a:r>
              <a:t>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Stateful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Stateful widgets manage changing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Examples include counters, forms and animations.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State changes trigger rebuilding of the widget tree.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State</a:t>
            </a:r>
          </a:p>
          <a:p>
            <a:r>
              <a:t> ↓</a:t>
            </a:r>
          </a:p>
          <a:p>
            <a:r>
              <a:t>setState()</a:t>
            </a:r>
          </a:p>
          <a:p>
            <a:r>
              <a:t> ↓</a:t>
            </a:r>
          </a:p>
          <a:p>
            <a:r>
              <a:t>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Widget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Important lifecycle stages: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Creation → Initialization → Build → Update → Dispose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Understanding lifecycle helps developers manage resources correctly.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initState()</a:t>
            </a:r>
          </a:p>
          <a:p>
            <a:r>
              <a:t> ↓</a:t>
            </a:r>
          </a:p>
          <a:p>
            <a:r>
              <a:t>build()</a:t>
            </a:r>
          </a:p>
          <a:p>
            <a:r>
              <a:t> ↓</a:t>
            </a:r>
          </a:p>
          <a:p>
            <a:r>
              <a:t>dispose()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Flutter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SDK contains all required tools to create Flutter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It includes Flutter framework, Dart SDK and command-line tools.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Developers verify setup using flutter doctor command.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Flutter SDK</a:t>
            </a:r>
          </a:p>
          <a:p>
            <a:r>
              <a:t>+ Dart</a:t>
            </a:r>
          </a:p>
          <a:p>
            <a:r>
              <a:t>+ Tools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Development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Required software: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1. Flutter SDK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2. Android Studio or VS Code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3. Android SDK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4. Emulator or physical device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Mac</a:t>
            </a:r>
          </a:p>
          <a:p>
            <a:r>
              <a:t> ↓</a:t>
            </a:r>
          </a:p>
          <a:p>
            <a:r>
              <a:t>Flutter</a:t>
            </a:r>
          </a:p>
          <a:p>
            <a:r>
              <a:t> ↓</a:t>
            </a:r>
          </a:p>
          <a:p>
            <a:r>
              <a:t>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Android Studio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Install Flutter plugin.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Install Dart plugin.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Configure Android SDK.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Create Android emulator for testing.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Android</a:t>
            </a:r>
          </a:p>
          <a:p>
            <a:r>
              <a:t>Studio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Creating First Flutter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creates a predefined project structure.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main.dart is the entry point.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pubspec.yaml manages dependencies and assets.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lib/</a:t>
            </a:r>
          </a:p>
          <a:p>
            <a:r>
              <a:t> main.dart</a:t>
            </a:r>
          </a:p>
          <a:p>
            <a:r>
              <a:t>pubspec.yaml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First Flutter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 Flutter application starts from the main() function.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runApp() loads the root widget and creates the widget tree.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main()</a:t>
            </a:r>
          </a:p>
          <a:p>
            <a:r>
              <a:t> ↓</a:t>
            </a:r>
          </a:p>
          <a:p>
            <a:r>
              <a:t>runApp()</a:t>
            </a:r>
          </a:p>
          <a:p>
            <a:r>
              <a:t> ↓</a:t>
            </a:r>
          </a:p>
          <a:p>
            <a:r>
              <a:t>Widget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Hot Reload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Hot Reload updates changes instantly without restarting the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It allows developers to experiment quickly with UI changes.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It is one of Flutter's most productive 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Edit</a:t>
            </a:r>
          </a:p>
          <a:p>
            <a:r>
              <a:t>↓</a:t>
            </a:r>
          </a:p>
          <a:p>
            <a:r>
              <a:t>Reload</a:t>
            </a:r>
          </a:p>
          <a:p>
            <a:r>
              <a:t>↓</a:t>
            </a:r>
          </a:p>
          <a:p>
            <a:r>
              <a:t>See Result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Debugging Flutter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provides debugging tools: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Console logs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Breakpoints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Flutter DevTools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Performance inspection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Debug</a:t>
            </a:r>
          </a:p>
          <a:p>
            <a:r>
              <a:t>Tools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Classroom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Students install Flutter.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Create a first project.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Modify Text widget.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Observe hot reload behaviour.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Draw a simple widget tree.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840480" cy="3200400"/>
          </a:xfrm>
          <a:prstGeom prst="roundRect">
            <a:avLst/>
          </a:prstGeom>
          <a:solidFill>
            <a:srgbClr val="1E7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Practice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Question 1: Why use Flutter?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Question 2: What is a widget?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Question 3: Difference between Widget Tree and Element Tree?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Question 4: What happens during hot reload?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Flutter enables modern multi-platform development.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Widgets are the foundation of Flutter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Next lecture: Flutter project structure and widgets.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Development Environment: Android Studio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Android Studio is Google's official IDE for Android development and one of the recommended environments for Flutter development.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Setup Steps: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1. Install Android Studio.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2. Install Flutter and Dart plugins from Marketplace.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3. Configure Android SDK and SDK tools.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4. Create Android Emulator using Device Manager.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5. Run 'flutter doctor' to verify the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Android Studio provides advanced Android debugging, emulator management and platform integration.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Development Environment: Visual Studio Code (VS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Visual Studio Code is a lightweight and popular editor used by many Flutter developers.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Setup Steps: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1. Install Visual Studio Code.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2. Install Flutter extension.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3. Install Dart extension.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4. Configure Flutter SDK path.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5. Use integrated terminal for Flutter commands.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Lightweight and fast startup.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Excellent Flutter extension support.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Built-in debugging and hot reload support.</a:t>
            </a:r>
          </a:p>
          <a:p>
            <a:pPr>
              <a:spcAft>
                <a:spcPts val="1000"/>
              </a:spcAft>
              <a:defRPr sz="1800">
                <a:solidFill>
                  <a:srgbClr val="E6F0FA"/>
                </a:solidFill>
              </a:defRPr>
            </a:pPr>
            <a:r>
              <a:t>• Suitable for beginners and professional developers.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Flutter First Program: main.dart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Every Flutter application starts from the main() function. runApp() inserts the root widget into the widget tree.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import 'package:flutter/material.dart';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void main()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runApp(MyApp());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}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class MyApp extends StatelessWidget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@override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Widget build(BuildContext context)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return MaterialApp(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home: Scaffold(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body: Center(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  child: Text(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    'Hello Flutter'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  ),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),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),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);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Understanding the First Widget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The previous code creates a hierarchy where every UI component becomes a widget.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MaterialApp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|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Scaffold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|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Center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|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Text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MaterialApp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- Application configuration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Scaffold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- Screen structure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Center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- Layout widget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Text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- Display widget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Widget Tree Example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Flutter UI is created by composing smaller widgets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Column(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children: [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Text(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'Welcome Student'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),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ElevatedButton(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onPressed: () {},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child: Text('Start')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],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Widget Tree vs Element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Widgets describe configuration. Elements maintain the connection between widgets and the rendered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Widget Tree: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Text()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Button()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↓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Element Tree: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TextElement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ButtonElement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  ↓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Render Tree: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Pixels on Screen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Stateless Widget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Stateless widgets are immutable. They display information that does not change during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class Welcome extends StatelessWidget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@override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Widget build(BuildContext context)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return Text(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'Flutter Lecture 1'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);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Stateful Widget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Stateful widgets manage dynamic data. setState() tells Flutter that the UI should rebuild.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class Counter extends StatefulWidget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@override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State&lt;Counter&gt; createState()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 =&gt; CounterState();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}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class CounterState extends State&lt;Counter&gt;{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int count = 0;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void increase(){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setState(() {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  count++;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  });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}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Flutter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Flutter projects follow a predictable structure. Students should understand the important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my_flutter_app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lib/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|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main.dart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android/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ios/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pubspec.yaml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assets/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test/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Hot Reload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F0FA"/>
                </a:solidFill>
              </a:defRPr>
            </a:pPr>
            <a:r>
              <a:t>Hot Reload allows developers to change UI code and immediately see the result without restarting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Before: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Text(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'Hello'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Change code: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Text(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 'Hello Flutter Students'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)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Hot Reload</a:t>
            </a: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DCF0FF"/>
                </a:solidFill>
                <a:latin typeface="Courier New"/>
              </a:defRPr>
            </a:pPr>
            <a:r>
              <a:t>Updated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